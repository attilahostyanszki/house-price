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D2168-FD30-4402-B2E6-5523E964DB2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8DA52-C64D-4F48-91B1-C9C3C973F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8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8DA52-C64D-4F48-91B1-C9C3C973F3D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01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8622-0E78-89BD-B36E-1B85464E2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19750-90FF-C756-DAE7-BDAFE6622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D2BB-62B5-B4E2-CE83-36DC7ADC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1C39-BDDB-7F5A-CAB2-BF687E97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6952E-9E60-559D-4CDD-E46C603B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28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9442-6D08-AF49-D8C9-763BD8DF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3A4-FF8A-E54D-BCD0-47FD6067C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7335D-8D5C-B1D4-9D3E-BAD2B475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C02FE-92BA-B1F0-23D7-5A768338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96ED-C7E0-3F44-169C-51098CE7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09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2A5B-1F08-4A76-8BDB-0A3A8C4B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74E86-94FF-0F39-599C-9636C1646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BC1FD-C519-451F-651D-681AC744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AB2-83CB-137F-DCEB-38855EE7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0102-02AE-F2AC-7AED-54179A34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26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A1F9-C380-1DAE-930B-59607FB3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86B4E-CCE4-6EE3-955E-862ADB953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2B8E5-CF17-BAE0-9333-244308CF9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976D-0B99-97C5-A53B-10B8F880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2C956-75B9-C32A-C97E-1BE8B678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1097D-6DAB-216A-6F33-5B6038D0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18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97A6-B1AD-9BDD-4BAF-AA09BB31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02C37-18A1-21E8-3536-8AFEF0C9F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83FC6-2049-8008-E618-580BAC257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9E58B-651C-CF96-D84A-73777CCFF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7804D-C0AD-6618-1D6E-A99014672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11B6D-24B0-A78C-6A6B-7549618C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8E10-4824-0575-2159-7D717A59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7B03A-B1D5-EE03-2F61-173BEC14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77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C264-D30C-B597-D383-D5BA7FD9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8C9AB-BD97-4967-524C-44D0E61E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C223B-95DC-1B22-A0D5-C702A08B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CC68A-A576-4535-73FC-D91896D7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52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D7A73-D0F1-334D-2712-218C5DDF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466D4-5F9C-E88B-FC06-5AF6D2F48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9B54C-0670-9E33-D090-7CC4E807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53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E0C5-5588-743F-EF59-96CA3597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0C996-4B7C-3388-A9AF-0E8934ED7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8740A-4292-CDE0-045A-EC192972C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76AE5-3C23-E19B-7432-694B8BBA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CB73F-25FA-F135-E807-CB038821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D644A-F979-16CA-49FB-548A5EA8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FD7B-3C4B-ACA7-CFCD-201FDB72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68D45-EEA3-799B-D265-3AED23484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AFF08-6A9B-53C6-3D38-19A864ED6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E7025-77F2-465F-1BEE-144F6145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7F164-6059-8948-2ED7-1336905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F3FB6-3D5F-AD73-F9D9-62383E4A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4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1874-FEB4-B5E6-D965-43BD75DF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A550A-9C9D-99C4-E96F-8F21E66CB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9CB5B-5BF0-A715-A327-2AC63310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2DD55-ED7E-C036-B651-7F4D7794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57D1E-FA56-7E4C-781C-D986D38D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72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DB799-3C51-2B07-A143-D23132C72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A91BD-E975-BA1A-1A40-CCD8325E7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F4697-C098-0736-F0DC-75795EE4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20637-0975-9667-A4B2-7B955FEB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45C16-4F32-8A9C-4186-DA82FD8E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43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7FFC2-0351-DEB7-031B-A3890F6E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93771-0765-4E27-3219-9B2AE284A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43315-7142-3FFA-99A7-C55A867E8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4D1EB-E04A-48D3-AE9E-26CE1AB321FE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7387-1799-ECC4-DDB7-760C61F0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AB3E7-AD17-08AB-9845-617577128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DE834-8FD8-4D47-9BCB-2F0ACAA977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0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819C-B753-D71A-BA91-0B828D4D3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8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8BE79-2FAB-171A-2ABB-3F612E2F8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Name: Attila Hostyanszki</a:t>
            </a:r>
          </a:p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Student Number: 2548713</a:t>
            </a:r>
          </a:p>
        </p:txBody>
      </p:sp>
    </p:spTree>
    <p:extLst>
      <p:ext uri="{BB962C8B-B14F-4D97-AF65-F5344CB8AC3E}">
        <p14:creationId xmlns:p14="http://schemas.microsoft.com/office/powerpoint/2010/main" val="286116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8853-2552-92EE-9F95-E84FEAA95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C858-4F00-9F47-6BBA-50C260016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purpose of this project is to analyse factors that influence house prices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objectives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Explore relationships between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 key predictors of house prices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Build a model to predict house prices</a:t>
            </a:r>
          </a:p>
        </p:txBody>
      </p:sp>
    </p:spTree>
    <p:extLst>
      <p:ext uri="{BB962C8B-B14F-4D97-AF65-F5344CB8AC3E}">
        <p14:creationId xmlns:p14="http://schemas.microsoft.com/office/powerpoint/2010/main" val="129325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025A-EE26-0802-6D20-4CE8B090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60E40-3075-FC5B-AD72-DF23BBAA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The dataset contains information about 996 houses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Variables: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Square Footage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Bedrooms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Bathrooms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Year Built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Lot Size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Garage Size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Neighbourhood 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House Price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C0D4C-0437-3C12-B2DA-026CB463724D}"/>
              </a:ext>
            </a:extLst>
          </p:cNvPr>
          <p:cNvSpPr txBox="1"/>
          <p:nvPr/>
        </p:nvSpPr>
        <p:spPr>
          <a:xfrm>
            <a:off x="0" y="0"/>
            <a:ext cx="2169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247794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FE03-46B2-744E-39FD-8802C83C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E2DEF-231D-4762-4C3E-964CE57DC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000" dirty="0">
                <a:latin typeface="Arial" panose="020B0604020202020204" pitchFamily="34" charset="0"/>
                <a:cs typeface="Arial" panose="020B0604020202020204" pitchFamily="34" charset="0"/>
              </a:rPr>
              <a:t>Before analysis, the dataset was checked for data quality: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Duplicates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Structure of variables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3000" dirty="0"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No missing values were found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No duplicates were found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36824-9608-F003-48E4-1EBDEC86915E}"/>
              </a:ext>
            </a:extLst>
          </p:cNvPr>
          <p:cNvSpPr txBox="1"/>
          <p:nvPr/>
        </p:nvSpPr>
        <p:spPr>
          <a:xfrm>
            <a:off x="0" y="0"/>
            <a:ext cx="3044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91222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3FB9-C18A-6D32-8456-55270145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House Prices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BBB8A-0EB7-49AE-DA4A-BAD0AFD77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77" y="1690687"/>
            <a:ext cx="7664098" cy="4802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6C217D-C32B-E355-5A85-554C92E4B9FD}"/>
              </a:ext>
            </a:extLst>
          </p:cNvPr>
          <p:cNvSpPr txBox="1"/>
          <p:nvPr/>
        </p:nvSpPr>
        <p:spPr>
          <a:xfrm>
            <a:off x="8207074" y="2014288"/>
            <a:ext cx="37451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Most houses are priced between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£400k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£900k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distribution is right-skewed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Only a small number of houses have very high prices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2FBE9-4605-B5D6-515A-5B3172B0B9D4}"/>
              </a:ext>
            </a:extLst>
          </p:cNvPr>
          <p:cNvSpPr txBox="1"/>
          <p:nvPr/>
        </p:nvSpPr>
        <p:spPr>
          <a:xfrm>
            <a:off x="0" y="0"/>
            <a:ext cx="287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61665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F334-3035-2122-8E58-F9601E1E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Boxplot of House Prices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E7A6F6-F651-0C76-D553-6562193B3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4" y="1562977"/>
            <a:ext cx="7461684" cy="4929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ECC9F6-314A-F0BF-A344-59E975783617}"/>
              </a:ext>
            </a:extLst>
          </p:cNvPr>
          <p:cNvSpPr txBox="1"/>
          <p:nvPr/>
        </p:nvSpPr>
        <p:spPr>
          <a:xfrm>
            <a:off x="8073390" y="2504431"/>
            <a:ext cx="41186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median house price is around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£600k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Most house prices fall between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£400k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£900k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few houses have higher prices than the majority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B9FFA-EB00-2383-764E-070E972EF9B0}"/>
              </a:ext>
            </a:extLst>
          </p:cNvPr>
          <p:cNvSpPr txBox="1"/>
          <p:nvPr/>
        </p:nvSpPr>
        <p:spPr>
          <a:xfrm>
            <a:off x="0" y="0"/>
            <a:ext cx="287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483886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0D16-B024-1E43-5B95-94DBB83B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Between House Size and Price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6B4A87-047D-23B0-C29D-91215DA04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81" y="1690687"/>
            <a:ext cx="7460399" cy="4802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33CE8-3F59-CEF8-EAD1-23FEB74C1A75}"/>
              </a:ext>
            </a:extLst>
          </p:cNvPr>
          <p:cNvSpPr txBox="1"/>
          <p:nvPr/>
        </p:nvSpPr>
        <p:spPr>
          <a:xfrm>
            <a:off x="7996136" y="1837425"/>
            <a:ext cx="395068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There is a strong positive relationship between house size and house price (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 = 0.904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Larger houses are generally more expensive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This suggests that square footage is an important factor in determining house prices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29E82-F544-B624-12FD-39728FEA8216}"/>
              </a:ext>
            </a:extLst>
          </p:cNvPr>
          <p:cNvSpPr txBox="1"/>
          <p:nvPr/>
        </p:nvSpPr>
        <p:spPr>
          <a:xfrm>
            <a:off x="0" y="0"/>
            <a:ext cx="287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2431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211A-19F0-E1A8-599E-6108816D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Prices by Number of Bedrooms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1895F-A845-AA8F-72F4-592CB2DE7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1" y="1485155"/>
            <a:ext cx="7730201" cy="5007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3DB11-A029-C3AC-0BD2-AE042B3EBCD6}"/>
              </a:ext>
            </a:extLst>
          </p:cNvPr>
          <p:cNvSpPr txBox="1"/>
          <p:nvPr/>
        </p:nvSpPr>
        <p:spPr>
          <a:xfrm>
            <a:off x="8171234" y="1485155"/>
            <a:ext cx="381244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Houses with more bedrooms tend to be more expensive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(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 = 0.013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However, the relationship is weaker than with house size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Correlation analysis shows house size has a much stronger relationship with price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B0BAC-C864-0AE9-E212-443C2B11A105}"/>
              </a:ext>
            </a:extLst>
          </p:cNvPr>
          <p:cNvSpPr txBox="1"/>
          <p:nvPr/>
        </p:nvSpPr>
        <p:spPr>
          <a:xfrm>
            <a:off x="0" y="0"/>
            <a:ext cx="287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58977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AB14-1284-2A96-97F1-8539C90F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A173-D790-DEDE-7D76-EDF46F64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336"/>
            <a:ext cx="10515600" cy="4980561"/>
          </a:xfrm>
        </p:spPr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  <a:t>A multiple linear regression model was used to predict house prices</a:t>
            </a:r>
          </a:p>
          <a:p>
            <a:pPr marL="0" indent="0">
              <a:buNone/>
            </a:pPr>
            <a:endParaRPr lang="en-GB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  <a:t>The model included variables such as:</a:t>
            </a:r>
          </a:p>
          <a:p>
            <a:pPr>
              <a:lnSpc>
                <a:spcPct val="120000"/>
              </a:lnSpc>
            </a:pPr>
            <a:r>
              <a:rPr lang="en-GB" sz="4500" dirty="0">
                <a:latin typeface="Arial" panose="020B0604020202020204" pitchFamily="34" charset="0"/>
                <a:cs typeface="Arial" panose="020B0604020202020204" pitchFamily="34" charset="0"/>
              </a:rPr>
              <a:t>Square Footage</a:t>
            </a:r>
          </a:p>
          <a:p>
            <a:pPr>
              <a:lnSpc>
                <a:spcPct val="120000"/>
              </a:lnSpc>
            </a:pPr>
            <a:r>
              <a:rPr lang="en-GB" sz="4500" dirty="0">
                <a:latin typeface="Arial" panose="020B0604020202020204" pitchFamily="34" charset="0"/>
                <a:cs typeface="Arial" panose="020B0604020202020204" pitchFamily="34" charset="0"/>
              </a:rPr>
              <a:t>Number of Bedrooms</a:t>
            </a:r>
          </a:p>
          <a:p>
            <a:pPr>
              <a:lnSpc>
                <a:spcPct val="120000"/>
              </a:lnSpc>
            </a:pPr>
            <a:r>
              <a:rPr lang="en-GB" sz="4500" dirty="0"/>
              <a:t>Number of Bathrooms</a:t>
            </a:r>
          </a:p>
          <a:p>
            <a:pPr>
              <a:lnSpc>
                <a:spcPct val="120000"/>
              </a:lnSpc>
            </a:pPr>
            <a:r>
              <a:rPr lang="en-GB" sz="4500" dirty="0"/>
              <a:t>Year Built</a:t>
            </a:r>
          </a:p>
          <a:p>
            <a:pPr>
              <a:lnSpc>
                <a:spcPct val="120000"/>
              </a:lnSpc>
            </a:pPr>
            <a:r>
              <a:rPr lang="en-GB" sz="4500" dirty="0"/>
              <a:t>Lot Size</a:t>
            </a:r>
          </a:p>
          <a:p>
            <a:pPr>
              <a:lnSpc>
                <a:spcPct val="120000"/>
              </a:lnSpc>
            </a:pPr>
            <a:r>
              <a:rPr lang="en-GB" sz="4500" dirty="0"/>
              <a:t>Garage Size</a:t>
            </a:r>
          </a:p>
          <a:p>
            <a:pPr>
              <a:lnSpc>
                <a:spcPct val="120000"/>
              </a:lnSpc>
            </a:pPr>
            <a:r>
              <a:rPr lang="en-GB" sz="4500" dirty="0"/>
              <a:t>Neighbourhood Quality</a:t>
            </a:r>
            <a:br>
              <a:rPr lang="en-GB" sz="3800" dirty="0"/>
            </a:br>
            <a:br>
              <a:rPr lang="en-GB" sz="3800" dirty="0"/>
            </a:br>
            <a:endParaRPr lang="en-GB" sz="3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  <a:t>Model performance: </a:t>
            </a:r>
            <a:r>
              <a:rPr lang="en-GB" sz="5900" b="1" dirty="0">
                <a:latin typeface="Arial" panose="020B0604020202020204" pitchFamily="34" charset="0"/>
                <a:cs typeface="Arial" panose="020B0604020202020204" pitchFamily="34" charset="0"/>
              </a:rPr>
              <a:t>R² = 0.83</a:t>
            </a:r>
            <a:b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5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  <a:t>The model explains about </a:t>
            </a:r>
            <a:r>
              <a:rPr lang="en-GB" sz="5900" b="1" dirty="0">
                <a:latin typeface="Arial" panose="020B0604020202020204" pitchFamily="34" charset="0"/>
                <a:cs typeface="Arial" panose="020B0604020202020204" pitchFamily="34" charset="0"/>
              </a:rPr>
              <a:t>83%</a:t>
            </a:r>
            <a:r>
              <a:rPr lang="en-GB" sz="5900" dirty="0">
                <a:latin typeface="Arial" panose="020B0604020202020204" pitchFamily="34" charset="0"/>
                <a:cs typeface="Arial" panose="020B0604020202020204" pitchFamily="34" charset="0"/>
              </a:rPr>
              <a:t> of the variation in house prices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3F65C-EF0A-0A97-3424-0DA076C08543}"/>
              </a:ext>
            </a:extLst>
          </p:cNvPr>
          <p:cNvSpPr txBox="1"/>
          <p:nvPr/>
        </p:nvSpPr>
        <p:spPr>
          <a:xfrm>
            <a:off x="0" y="0"/>
            <a:ext cx="287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Modelling</a:t>
            </a:r>
          </a:p>
        </p:txBody>
      </p:sp>
    </p:spTree>
    <p:extLst>
      <p:ext uri="{BB962C8B-B14F-4D97-AF65-F5344CB8AC3E}">
        <p14:creationId xmlns:p14="http://schemas.microsoft.com/office/powerpoint/2010/main" val="1752662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508F-974E-90AC-8719-F7A8CF69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4B62-1DF4-F99E-7470-02CF5B413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House size has the strongest relationship with house price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The number of bedrooms has a much weaker relationship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The regression model explains 83% of the variation in house price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The model can be used to estimate house price based on property characteristic.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CA76B-50B8-D9C3-B8BF-8E6ECF3F452A}"/>
              </a:ext>
            </a:extLst>
          </p:cNvPr>
          <p:cNvSpPr txBox="1"/>
          <p:nvPr/>
        </p:nvSpPr>
        <p:spPr>
          <a:xfrm>
            <a:off x="0" y="0"/>
            <a:ext cx="287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</p:txBody>
      </p:sp>
    </p:spTree>
    <p:extLst>
      <p:ext uri="{BB962C8B-B14F-4D97-AF65-F5344CB8AC3E}">
        <p14:creationId xmlns:p14="http://schemas.microsoft.com/office/powerpoint/2010/main" val="22107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378</Words>
  <Application>Microsoft Office PowerPoint</Application>
  <PresentationFormat>Widescreen</PresentationFormat>
  <Paragraphs>88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House Price Analysis</vt:lpstr>
      <vt:lpstr>Purpose of the Analysis</vt:lpstr>
      <vt:lpstr>Data Overview</vt:lpstr>
      <vt:lpstr>Data Inspection</vt:lpstr>
      <vt:lpstr>Distribution of House Prices</vt:lpstr>
      <vt:lpstr>Boxplot of House Prices</vt:lpstr>
      <vt:lpstr>Relationship Between House Size and Price</vt:lpstr>
      <vt:lpstr>House Prices by Number of Bedrooms</vt:lpstr>
      <vt:lpstr>Multiple Linear Regression Model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Attila Hostyanszki</dc:creator>
  <cp:lastModifiedBy>Attila Hostyanszki</cp:lastModifiedBy>
  <cp:revision>1</cp:revision>
  <dcterms:created xsi:type="dcterms:W3CDTF">2026-03-12T12:37:15Z</dcterms:created>
  <dcterms:modified xsi:type="dcterms:W3CDTF">2026-03-12T23:18:28Z</dcterms:modified>
</cp:coreProperties>
</file>